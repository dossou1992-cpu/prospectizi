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05840"/>
            <a:ext cx="9997135" cy="4846320"/>
          </a:xfrm>
          <a:prstGeom prst="roundRect">
            <a:avLst/>
          </a:prstGeom>
          <a:solidFill>
            <a:srgbClr val="0B0F1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F0FF"/>
                </a:solidFill>
              </a:defRPr>
            </a:pPr>
            <a:r>
              <a:t>⚡ DOSSIER DE PRÉSENTATION &amp; CAHIER DES CHARGES INTÉGRAL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PROSPECTIZI</a:t>
            </a:r>
          </a:p>
          <a:p>
            <a:pPr>
              <a:spcAft>
                <a:spcPts val="1800"/>
              </a:spcAft>
              <a:defRPr sz="2000" i="1">
                <a:solidFill>
                  <a:srgbClr val="00D8F6"/>
                </a:solidFill>
              </a:defRPr>
            </a:pPr>
            <a:r>
              <a:t>"Trouvez les bons prospects. Contactez-les mieux."</a:t>
            </a:r>
          </a:p>
          <a:p>
            <a:pPr>
              <a:spcAft>
                <a:spcPts val="2000"/>
              </a:spcAft>
              <a:defRPr sz="1500">
                <a:solidFill>
                  <a:srgbClr val="E2E8F0"/>
                </a:solidFill>
              </a:defRPr>
            </a:pPr>
            <a:r>
              <a:t>SaaS B2B de Prospection Intelligente &amp; Multi-Canaux (Google Maps, Google, LinkedIn, Facebook, Instagram)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Spécifications MVP complètes • Architecture Next.js 14 &amp; Supabase • Smart Routing Flutterwave &amp; Lemon Squeezy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01. MÉTHODE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Organisation du projet : Zéro code pour vous, guidage pas à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Une démarche structurée pour transformer une idée en SaaS rentable sans barrière technique.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F0FF"/>
                </a:solidFill>
              </a:defRPr>
            </a:pPr>
            <a:r>
              <a:t>🤖 Mon Rôle (Lead Full-Stack Dev)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✔ Développement complet du code Next.js 14, TypeScript &amp; React 19.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✔ Mise en place du Design System Dark &amp; Cyan électrique fluide.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✔ Architecture de la base de données Supabase (PostgreSQL + RLS).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✔ Intégration du moteur Apify (Google Maps, LinkedIn, etc.).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✔ Connexion Flutterwave / Lemon Squeezy et webhooks automatisés.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✔ Générateur de messages IA conversationnels &amp; calcul de scoring.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✔ Création du dashboard Superadmin réservé avec bypass de quotas.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✔ Déploiement en ligne et synchronisation sur votre compte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20640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2C55E"/>
                </a:solidFill>
              </a:defRPr>
            </a:pPr>
            <a:r>
              <a:t>👤 Votre Rôle (Fondatrice du SaaS)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★ Créer vos comptes gratuits (GitHub, Supabase, Vercel, Flutterwave).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★ Copier et coller les clés d'API aux endroits exacts que je vous indique.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★ Tester l'application en direct dans votre navigateur (Live Preview).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★ Valider le comportement de chaque bouton, modale et vue CRM.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★ Enregistrer la courte vidéo tutorielle de 2 min 30 (script fourni).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★ Collecter vos premiers paiements et piloter vos utilisateurs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02. STRUCTURE FONCTIONNELLE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Les 3 Pages Maîtresses du MVP Prospectizi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Ergonomie épurée avec Sidebar permanente, Topbar interactive et zéro fatigue cognitive.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296265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1. AVATAR CLIENT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Route : /avatar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Profil commercial : nom, métier, offre de service, cible visée, bénéfice garanti.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Sélecteur de ton : Professionnel, Chaleureux, Direct, Persuasif.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Fréquence de relance personnalisée (J+3, J+5, J+10).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Aperçu IA en temps réel : 'Ce que l'IA a compris'.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Magic Setup : Génération instantanée des 3 prospects d'essai dès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28416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084832"/>
            <a:ext cx="296265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2. PROSPECTS &amp; CRM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Route : /prospects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Moteur de recherche 5 canaux : Google Maps, Google, LinkedIn, Facebook, Instagram.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Barre de quota visible : blocage automatique au plafond.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Fiche Prospect V2 à 2 colonnes (Analyse/Messages à gauche, Coordonnées à droite).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Score 60-100 avec failles business et proposition d'offre sur-mesure.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One-Click Outreach : WhatsApp wa.me &amp; Mailto préremplis.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920240"/>
            <a:ext cx="3328416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2084832"/>
            <a:ext cx="296265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3. DASHBOARD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Route : /dashboard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Topbar de statut personnalisée ('Bonjour [Nom], voici vos priorités du jour').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4 KPIs stratégiques : Gagnés, En discussion, Relances du jour, Taux closing.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Bloc 'Focus du Jour' : liste dynamique des relances prioritaires du jour même.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Modale d'action 'Voir le message' pour copier le script sans quitter la page.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✔ Bloc 'Top Prospects Chauds' (Score de qualification ≥ 80/100).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03. CŒUR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La Fiche Prospect V2 &amp; Algorithme de Scoring (60-100)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20+ champs analysés, garantie 100% contactable et offre sur-mesure.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6217920" cy="4297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F0FF"/>
                </a:solidFill>
              </a:defRPr>
            </a:pPr>
            <a:r>
              <a:t>📐 Architecture 2 Colonnes de la Fiche Prospect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Colonne Gauche (Analyse &amp; Messages) 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Nom de l'entreprise, Activité, Ville/Pays, Score sur 100, Faille identifiée, Solution sur-mesure recommandée, Messages IA personnalisés, Notes privées, Conseils de closing.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Colonne Droite (Coordonnées 100% Directes) 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Email vérifié, Téléphone WhatsApp avec lien direct, Site Web cliquable, Liens réseaux sociaux (LinkedIn, Facebook, Instagram, Google Maps).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Sélecteur de Statut CRM Réactif 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Boutons interactifs : Nouveau ➔ Non contacté ➔ En discussion ➔ Gagné ➔ Perdu.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Garantie Anti-Gaspillage avec Anti-Fraude 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Bouton 'Signaler un contact erroné' avec vérification automatique backend (Ping SMTP / HLR) et recrédit automatique si hard bounce.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920240"/>
            <a:ext cx="4114800" cy="4297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103120"/>
            <a:ext cx="3749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8F6"/>
                </a:solidFill>
              </a:defRPr>
            </a:pPr>
            <a:r>
              <a:t>⚙️ Grille de Scoring IA (60 à 100 pts)</a:t>
            </a:r>
          </a:p>
          <a:p>
            <a:pPr>
              <a:defRPr sz="1200" b="1">
                <a:solidFill>
                  <a:srgbClr val="F87171"/>
                </a:solidFill>
              </a:defRPr>
            </a:pPr>
            <a:r>
              <a:t>Filtre d'élimination 100% strict 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Si aucun contact direct OU aucune faille détectée -&gt; Fiche rejetée d'office.</a:t>
            </a:r>
          </a:p>
          <a:p>
            <a:pPr>
              <a:defRPr sz="1150" b="1">
                <a:solidFill>
                  <a:srgbClr val="00F0FF"/>
                </a:solidFill>
              </a:defRPr>
            </a:pPr>
            <a:r>
              <a:t>★ Base fixe = 60 pts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  Validé car contactable et besoin critique présent.</a:t>
            </a:r>
          </a:p>
          <a:p>
            <a:pPr>
              <a:defRPr sz="1150" b="1">
                <a:solidFill>
                  <a:srgbClr val="00F0FF"/>
                </a:solidFill>
              </a:defRPr>
            </a:pPr>
            <a:r>
              <a:t>★ 1. Degré d'Alignement Cible (+15 pts)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  Correspondance profil et offre de l'Avatar.</a:t>
            </a:r>
          </a:p>
          <a:p>
            <a:pPr>
              <a:defRPr sz="1150" b="1">
                <a:solidFill>
                  <a:srgbClr val="00F0FF"/>
                </a:solidFill>
              </a:defRPr>
            </a:pPr>
            <a:r>
              <a:t>★ 2. Criticité de la Faille (+15 pts)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  Urgence du problème détecté chez le prospect.</a:t>
            </a:r>
          </a:p>
          <a:p>
            <a:pPr>
              <a:defRPr sz="1150" b="1">
                <a:solidFill>
                  <a:srgbClr val="00F0FF"/>
                </a:solidFill>
              </a:defRPr>
            </a:pPr>
            <a:r>
              <a:t>★ 3. Pertinence Solution (+10 pts)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  Adéquation de l'offre recommandée.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04. MOTEUR COPYWRITING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Les 6 Règles d'Or &amp; Séquence Complète de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Copywriting conversationnel à forte conversion rédigé comme un humain.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1. Format Court (&lt; 75 mots)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Zéro introduction creuse ('J'espère que vous allez bien'). Attaque directe sur le problème.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05740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2. Rédigé en 'Je' (Humain)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Style conversationnel à la 1ère personne ('Je'), zéro langage d'agence corporatif distant.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920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205740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3. Règle du 80 / 20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80% du message se concentre sur le prospect et sa faille. 20% seulement sur votre 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4. Appel à l'Action Doux (CTA)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Pas de demande de RDV lourd de 30 min. Proposition d'un échange vidéo ou audio de 2 min.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4206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434340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5. Séquence en 5 Étapes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1. Accroche / 2. Offre de valeur / 3. Relance J+3 / 4. Relance J+5 / 5. Relance finale courtoise.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4206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434340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6. Multi-Canal Sur-Mesure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Format WhatsApp fluide, DM LinkedIn/Instagram direct, Email aéré avec objet accrocheur.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05. RÉTENTION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Audit Mensuel IA (/audit) : Le Coach Virtuel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Analyse automatique de conversion verrouillée à 30 jours pour faire exploser les ventes.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F0FF"/>
                </a:solidFill>
              </a:defRPr>
            </a:pPr>
            <a:r>
              <a:t>A. Bilan Chiffré de Conversion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Calcul automatique du taux de prise de contact, taux de réponse et taux de closing avec bandeau diagnostic IA en 1 phrase claire.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20640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F0FF"/>
                </a:solidFill>
              </a:defRPr>
            </a:pPr>
            <a:r>
              <a:t>B. Diagnostic des Goulots d'Étranglement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Identification de la faille dominante : accroche trop longue, avatar mal ciblé ou absence de relances après contact.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F0FF"/>
                </a:solidFill>
              </a:defRPr>
            </a:pPr>
            <a:r>
              <a:t>C. Nouveaux Scripts A/B Optimisés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L'IA réécrit automatiquement un script d'accroche et une séquence de relance basée sur les prospects Gagnés du mois.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120640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389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F0FF"/>
                </a:solidFill>
              </a:defRPr>
            </a:pPr>
            <a:r>
              <a:t>D. Règles d'Accès &amp; Anti-Abus (30j)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Strictement 1 audit par mois (verrou de 30 jours avec compte à rebours dynamique) + minimum 10 à 30 prospects contactés.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06. MODÈLE MONÉTAIRE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Grille Tarifaire, Quotas &amp; Psychologie de Vente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Conçu pour inciter à la transition rapide vers les plans récurrents PRO et AGENCE.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TEST &amp; PRISE EN MAIN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DÉCOUVERTE</a:t>
            </a:r>
          </a:p>
          <a:p>
            <a:pPr>
              <a:defRPr sz="2600" b="1">
                <a:solidFill>
                  <a:srgbClr val="00F0FF"/>
                </a:solidFill>
              </a:defRPr>
            </a:pPr>
            <a:r>
              <a:t>1 € 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Paiement Unique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3 Prospects Ultra-Qualifiés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Messages IA personnalisés complets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Accès 1 canal (Google Maps)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Gestion CRM de base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Bonus Loom : +3 prospects offerts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Verrouillage automatique dès le 4e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28416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0574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F0FF"/>
                </a:solidFill>
              </a:defRPr>
            </a:pPr>
            <a:r>
              <a:t>RECOMMANDÉ INDÉPENDANTS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PRO ★ POPULAIRE</a:t>
            </a:r>
          </a:p>
          <a:p>
            <a:pPr>
              <a:defRPr sz="2600" b="1">
                <a:solidFill>
                  <a:srgbClr val="00F0FF"/>
                </a:solidFill>
              </a:defRPr>
            </a:pPr>
            <a:r>
              <a:t>29 € 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par mois (Sans engagement)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90 Prospects Qualifiés / mois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Seulement 0,32 € / prospect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Recherche Multi-Canaux illimitée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Export CSV &amp; Excel en 1 clic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Module Audit Mensuel IA inclus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Support prioritaire WhatsApp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920240"/>
            <a:ext cx="3328416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00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20574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D8F6"/>
                </a:solidFill>
              </a:defRPr>
            </a:pPr>
            <a:r>
              <a:t>RENDEMENT &amp; VOLUME MAXIMUM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AGENCE ⚡ MAX</a:t>
            </a:r>
          </a:p>
          <a:p>
            <a:pPr>
              <a:defRPr sz="2600" b="1">
                <a:solidFill>
                  <a:srgbClr val="00F0FF"/>
                </a:solidFill>
              </a:defRPr>
            </a:pPr>
            <a:r>
              <a:t>59 € 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par mois (Sans engagement)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450 Prospects Qualifiés / mois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Coût record : 0,13 € / prospect !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Multi-Avatars (jusqu'à 5 cibles)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Module Équipe (5 accès VAs)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Scraping haute cadence Apify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✔ Onboarding VIP personnalisé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07. PASSERELLES DE PAIEMENT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Smart Routing Géographique &amp; Webhooks Automatisés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Détection automatique de la provenance pour offrir le moyen de paiement le plus naturel.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F0FF"/>
                </a:solidFill>
              </a:defRPr>
            </a:pPr>
            <a:r>
              <a:t>🌍 Afrique : Passerelle Flutterwave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Détection géographique automatique de l'IP du visiteur.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Moyens de paiement locaux : Mobile Money (MTN MoMo, Orange Money, Moov, Wave) + Cartes bancaires.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Webhook direct /api/webhooks/flutterwave avec vérification de signature chiffrée.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Gestion fluide des devises (XOF, XAF, EUR).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20640" cy="4297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D8F6"/>
                </a:solidFill>
              </a:defRPr>
            </a:pPr>
            <a:r>
              <a:t>🌐 International : Lemon Squeezy / Paddle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Attribution automatique pour l'Europe, Amérique du Nord et Reste du Monde.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Paiement par Cartes bancaires, Apple Pay, Google Pay et PayPal.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Gestion automatisée de la TVA et taxes internationales.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Webhook unifié /api/webhooks/lemonsqueezy mettant à jour la même table Supabase subscriptions.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08. MODÉRATION &amp;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Espace Superadmin (/admin) &amp; Gestion des Témoignages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Réservé exclusivement à dossou1992@gmail.com avec bypass total de quotas.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👑 Contrôle Superadmin Réservé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Accès maître pour dossou1992@gmail.com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✔ Bypass Développeur : Quotas illimités pour tous vos tests personnels.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✔ Gestion globale des comptes avec moteur de recherche instantané par email.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✔ Surclassement manuel en plan PRO ou AGENCE pour vos partenaires/VIPs.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✔ Réinitialisation d'un compteur de quota en cas de besoin technique.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✔ Export global des statistiques de la plateforme en CSV.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20640" cy="4297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8F6"/>
                </a:solidFill>
              </a:defRPr>
            </a:pPr>
            <a:r>
              <a:t>🎥 Gestion des Témoignages Loom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Bonus de 3 prospects gratuits contre avis vidéo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★ Tableau des soumissions de vidéos Loom soumises par les utilisateurs.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★ Vérification de la case obligatoire de consentement commercial.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★ Bouton 'Valider &amp; Créditer (+3 prospects)' en 1 clic.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★ Notification automatique à l'utilisateur lors de la validation.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★ Bouton de rejet avec motif si la vidéo n'est pas conforme.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09. CONFORMITÉ &amp; ANTI-FRAUDE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Conformité Légale (CGU/CGV) &amp; Protection Anti-Gaspillage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Sécuriser le business juridique tout en éliminant les abus sur les remboursements.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F0FF"/>
                </a:solidFill>
              </a:defRPr>
            </a:pPr>
            <a:r>
              <a:t>⚖️ Cadre Légal &amp; RGPD Obligatoire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✔ Mentions Légales, CGU, CGV et Politique de Confidentialité intégrées.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✔ Offre 1 € : Mention expresse de renonciation au droit de rétractation dès la première génération.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✔ Abonnements PRO &amp; AGENCE : Reconduction tacite mensuelle, résiliable en 1 clic dans les paramètres.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✔ Données B2B : Collecte restreinte aux sources publiques accessibles (RGPD B2B strict).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20640" cy="4297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🛡️ Protection Anti-Fraude Recrédit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★ Demande motivée obligatoire (Bounce email, numéro non attribué).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★ Vérification automatique backend par Ping SMTP et lookup téléphonique.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★ Plafonnement strict : Maximum 10% du volume mensuel autorisé en signalement.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★ Suspension du bouton après 3 signalements abusifs répétés.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★ Verrouillage/Archivage immédiat de la fiche en cas de crédit remboursé.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10. ADOPTION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Script Vidéo Tutoriel (2 min 30) &amp;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Un support prêt à tourner avec Loom pour convertir et accompagner vos utilisateurs.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29992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</a:defRPr>
            </a:pPr>
            <a:r>
              <a:t>Scène 1 : Intro &amp; Accueil (0:00-0:15)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Présentation de la fondatrice et promesse : maîtriser Prospectizi en moins de 2 minutes chrono.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29992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</a:defRPr>
            </a:pPr>
            <a:r>
              <a:t>Scène 2 : Analyse ICP &amp; Avatar (0:15-0:45)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Remplissage des 4 questions de l'Avatar et visualisation en direct du profil IA calibré.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920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2057400"/>
            <a:ext cx="29992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</a:defRPr>
            </a:pPr>
            <a:r>
              <a:t>Scène 3 : Trouver des prospects (0:45-1:15)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Lancement d'une recherche sur Google Maps/LinkedIn et affichage des fiches 100% contactables.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29992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</a:defRPr>
            </a:pPr>
            <a:r>
              <a:t>Scène 4 : Copie &amp; One-Click (1:15-1:45)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Démonstration du bouton WhatsApp direct avec message pré-rempli et bouton Copier.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4206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343400"/>
            <a:ext cx="29992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</a:defRPr>
            </a:pPr>
            <a:r>
              <a:t>Scène 5 : Suivi CRM &amp; Statuts (1:45-2:10)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Passage de la fiche en 'En discussion' ou 'Gagné' et vue du Dashboard quotidien.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4206240"/>
            <a:ext cx="3328416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4343400"/>
            <a:ext cx="29992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</a:defRPr>
            </a:pPr>
            <a:r>
              <a:t>Scène 6 : Conclusion &amp; Offre 1€ (2:10-2:30)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Invitation à tester avec les 3 premiers prospects offerts et passage au plan PRO.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11. PLAN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Feuille de Route pour le Lancement Opérationnel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Un calendrier clair pour amener Prospectizi de la conception à la première vente.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0312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F0FF"/>
                </a:solidFill>
              </a:defRPr>
            </a:pPr>
            <a:r>
              <a:t>PHASE 1 (Aujourd'hui)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Développement MVP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Création de l'application Next.js 14, Sidebar, 3 pages maîtresses, fiches prospects, scoring et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68880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10312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F0FF"/>
                </a:solidFill>
              </a:defRPr>
            </a:pPr>
            <a:r>
              <a:t>PHASE 2 (Semaine 1)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Live Preview &amp; Tests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Test interactif direct dans votre navigateur de toutes les fonctionnalités et ajustements.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468880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0312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F0FF"/>
                </a:solidFill>
              </a:defRPr>
            </a:pPr>
            <a:r>
              <a:t>PHASE 3 (Semaine 2)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Comptes &amp; Clés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Création guidée de vos comptes Supabase, Flutterwave et Apify, ajout des clés d'API.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468880" cy="42976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210312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2C55E"/>
                </a:solidFill>
              </a:defRPr>
            </a:pPr>
            <a:r>
              <a:t>PHASE 4 (Semaine 3)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GitHub &amp; Déploiement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Synchronisation sur votre GitHub, mise en ligne sur Vercel et lancement de vos premiers tests payants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